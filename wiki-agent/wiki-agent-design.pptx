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25587"/>
                </a:solidFill>
                <a:latin typeface="Meiryo"/>
              </a:rPr>
              <a:t>wiki管理システム 設計書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7878"/>
                </a:solidFill>
                <a:latin typeface="Meiryo"/>
              </a:rPr>
              <a:t>wiki-agent / KnowledgeBase 構成設計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7878"/>
                </a:solidFill>
                <a:latin typeface="Meiryo"/>
              </a:rPr>
              <a:t>2026-05-01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1.  システム全体像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2.  フォルダ構成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3.  エージェント構成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4.  スキル構成（14本）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5.  inbox処理フロー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6.  対応ファイル形式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7.  自動学習サイクル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7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Meiryo"/>
              </a:rPr>
              <a:t>8.  運用ルール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97280"/>
            <a:ext cx="27432" cy="41148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システム全体像 — 3ゾーン分離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411480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5587"/>
                </a:solidFill>
                <a:latin typeface="Meiryo"/>
              </a:rPr>
              <a:t>ゾーン1（ClaudeCodeFolder/）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47472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3737"/>
                </a:solidFill>
                <a:latin typeface="Meiryo"/>
              </a:rPr>
              <a:t>エージェント作業場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kyorindo-cx/（CX推進部）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wiki-agent/（wiki管理）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4114800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5587"/>
                </a:solidFill>
                <a:latin typeface="Meiryo"/>
              </a:rPr>
              <a:t>ゾーン2（KnowledgeBase/）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3737"/>
                </a:solidFill>
                <a:latin typeface="Meiryo"/>
              </a:rPr>
              <a:t>コンパイル済み知識（.md / .yaml のみ）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_inbox/ / _system/ / カテゴリ7本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LLMが参照する知識ベース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4114800"/>
          </a:xfrm>
          <a:prstGeom prst="rect">
            <a:avLst/>
          </a:prstGeom>
          <a:solidFill>
            <a:srgbClr val="FAE1C3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5587"/>
                </a:solidFill>
                <a:latin typeface="Meiryo"/>
              </a:rPr>
              <a:t>ゾーン3（00personal/）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347472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3737"/>
                </a:solidFill>
                <a:latin typeface="Meiryo"/>
              </a:rPr>
              <a:t>原本・成果物保管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.pptx / .xlsx / .docx / 画像 / 動画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wiki生成元資料・配布資料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C6E"/>
                </a:solidFill>
                <a:latin typeface="Meiryo"/>
              </a:rPr>
              <a:t>← _inbox/ への投入フロー（ゾーン3 → ゾーン2）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フォルダ構成 — ClaudeCodeFolder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530352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kyorindo-cx/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166360" cy="4480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3737"/>
                </a:solidFill>
                <a:latin typeface="Courier New"/>
              </a:rPr>
              <a:t>kyorindo-cx/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agents/（13ファイル）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agent_cxlead.md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agent_strategy.md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└── ... 他10本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└── CLAUDE.md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303520" cy="5303520"/>
          </a:xfrm>
          <a:prstGeom prst="rect">
            <a:avLst/>
          </a:prstGeom>
          <a:solidFill>
            <a:srgbClr val="C8EBD7"/>
          </a:solidFill>
          <a:ln w="6350">
            <a:solidFill>
              <a:srgbClr val="8C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wiki-agent/  ★新設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54480"/>
            <a:ext cx="5166360" cy="4480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3737"/>
                </a:solidFill>
                <a:latin typeface="Courier New"/>
              </a:rPr>
              <a:t>wiki-agent/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agents/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inbox-agent.md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└── maintenance-agent.md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skills/（14スキル）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analyze.md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convert-binary.md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└── ... 他12本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└── 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フォルダ構成 — KnowledgeBase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347472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5587"/>
                </a:solidFill>
                <a:latin typeface="Meiryo"/>
              </a:rPr>
              <a:t>_system/ の構成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92840" cy="2880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1109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3737"/>
                </a:solidFill>
                <a:latin typeface="Courier New"/>
              </a:rPr>
              <a:t>_system/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SCHEMA.md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change_log_YYYY-MM.md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index.yaml（自動生成）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├── personal/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├── personal-index.yaml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│   └── personal-rules.md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└── learning/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    ├── feedback-log.md</a:t>
            </a:r>
          </a:p>
          <a:p>
            <a:r>
              <a:rPr sz="1000">
                <a:solidFill>
                  <a:srgbClr val="373737"/>
                </a:solidFill>
                <a:latin typeface="Courier New"/>
              </a:rPr>
              <a:t>    └── classification-hints.md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1536192" cy="640080"/>
          </a:xfrm>
          <a:prstGeom prst="rect">
            <a:avLst/>
          </a:prstGeom>
          <a:solidFill>
            <a:srgbClr val="FAE1C3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_inbox/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4663440"/>
            <a:ext cx="1536192" cy="64008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kyorindo/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4663440"/>
            <a:ext cx="1536192" cy="64008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tsuruha-hd/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1496" y="4663440"/>
            <a:ext cx="1536192" cy="640080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retail/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3408" y="4663440"/>
            <a:ext cx="1536192" cy="640080"/>
          </a:xfrm>
          <a:prstGeom prst="rect">
            <a:avLst/>
          </a:prstGeom>
          <a:solidFill>
            <a:srgbClr val="E1D2F0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ai-dx/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4663440"/>
            <a:ext cx="1536192" cy="640080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vendor/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57232" y="4663440"/>
            <a:ext cx="1536192" cy="640080"/>
          </a:xfrm>
          <a:prstGeom prst="rect">
            <a:avLst/>
          </a:prstGeom>
          <a:solidFill>
            <a:srgbClr val="FAE1C3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466344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25587"/>
                </a:solidFill>
                <a:latin typeface="Courier New"/>
              </a:rPr>
              <a:t>research/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エージェント構成（2本）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25587"/>
                </a:solidFill>
                <a:latin typeface="Meiryo"/>
              </a:rPr>
              <a:t>inbox-agent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81912"/>
            <a:ext cx="521208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3737"/>
                </a:solidFill>
                <a:latin typeface="Meiryo"/>
              </a:rPr>
              <a:t>責務: _inbox/ ファイルの一括処理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/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トリガー: ユーザー呼び出し（コマンド・会話）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/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完了後に自動連鎖: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  frontmatter → overview-updater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  → index-builder → log-writer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/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分類不明時: ユーザーに同期質問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394960" cy="5303520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25587"/>
                </a:solidFill>
                <a:latin typeface="Meiryo"/>
              </a:rPr>
              <a:t>maintenance-agent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81912"/>
            <a:ext cx="521208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73737"/>
                </a:solidFill>
                <a:latin typeface="Meiryo"/>
              </a:rPr>
              <a:t>責務: 定期メンテナンス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/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トリガー: 週次定期実行 + ユーザー呼び出し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/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実行内容: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  sync-wiki / sync-personal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  index-builder / consistency-checker</a:t>
            </a:r>
          </a:p>
          <a:p>
            <a:r>
              <a:rPr sz="1100">
                <a:solidFill>
                  <a:srgbClr val="373737"/>
                </a:solidFill>
                <a:latin typeface="Meiryo"/>
              </a:rPr>
              <a:t>  learn-from-feedback / log-writer（圧縮）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スキル構成（14本）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Meiryo"/>
              </a:rPr>
              <a:t>inbox処理系（5本）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54864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スキル</a:t>
                      </a:r>
                    </a:p>
                  </a:txBody>
                  <a:tcPr>
                    <a:solidFill>
                      <a:srgbClr val="D2E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責務</a:t>
                      </a:r>
                    </a:p>
                  </a:txBody>
                  <a:tcPr>
                    <a:solidFill>
                      <a:srgbClr val="D2E4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analyze.md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ファイル分析・分類先判定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convert-binary.md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バイナリ→テキスト変換（pptx/xlsx/docx/pdf/画像/音声/動画）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write-wiki.md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.md 要約wiki生成（再利用可）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place-wiki.md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KnowledgeBase/ への配置・Front-matter付与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route-binary.md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00personal/ への移動・索引更新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2587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Meiryo"/>
              </a:rPr>
              <a:t>自動連鎖系（3本）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2880360"/>
          <a:ext cx="54864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スキル</a:t>
                      </a:r>
                    </a:p>
                  </a:txBody>
                  <a:tcPr>
                    <a:solidFill>
                      <a:srgbClr val="C8EB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責務</a:t>
                      </a:r>
                    </a:p>
                  </a:txBody>
                  <a:tcPr>
                    <a:solidFill>
                      <a:srgbClr val="C8EBD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frontmatter.md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Front-matter検証・status:draft自動付与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overview-updater.md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_overview.md 自動生成・更新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index-builder.md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index.yaml 全エントリ再生成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60" y="621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Meiryo"/>
              </a:rPr>
              <a:t>メンテナンス系（4本）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91440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スキル</a:t>
                      </a:r>
                    </a:p>
                  </a:txBody>
                  <a:tcPr>
                    <a:solidFill>
                      <a:srgbClr val="FAE1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責務</a:t>
                      </a:r>
                    </a:p>
                  </a:txBody>
                  <a:tcPr>
                    <a:solidFill>
                      <a:srgbClr val="FAE1C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consistency-checker.md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リンク切れ・命名規則・status不整合の検出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log-writer.md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change_log 月次記録・3ヶ月後圧縮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sync-wiki.md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KnowledgeBase/ の手動変更を検出・同期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sync-personal.md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00personal/ の手動変更を検出・同期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80760" y="3639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Meiryo"/>
              </a:rPr>
              <a:t>学習系（2本）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80760" y="3931920"/>
          <a:ext cx="54864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スキル</a:t>
                      </a:r>
                    </a:p>
                  </a:txBody>
                  <a:tcPr>
                    <a:solidFill>
                      <a:srgbClr val="E1D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25587"/>
                          </a:solidFill>
                          <a:latin typeface="Meiryo"/>
                        </a:rPr>
                        <a:t>責務</a:t>
                      </a:r>
                    </a:p>
                  </a:txBody>
                  <a:tcPr>
                    <a:solidFill>
                      <a:srgbClr val="E1D2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record-feedback.md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分類修正をfeedback-log.mdに自動記録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learn-from-feedback.md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73737"/>
                          </a:solidFill>
                          <a:latin typeface="Meiryo"/>
                        </a:rPr>
                        <a:t>パターン分析→classification-hints.md更新提案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inbox処理フロー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6858000" cy="502920"/>
          </a:xfrm>
          <a:prstGeom prst="rect">
            <a:avLst/>
          </a:prstGeom>
          <a:solidFill>
            <a:srgbClr val="FAE1C3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_inbox/ にファイル投入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.0" y="1463040"/>
            <a:ext cx="0.0" cy="201168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64208"/>
            <a:ext cx="685800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analyze.md  ―  種別・分類先判定 ／ 不明→ユーザー質問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.0" y="2167128"/>
            <a:ext cx="0.0" cy="201168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368296"/>
            <a:ext cx="685800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convert-binary.md  ―  pdf/pptx/xlsx/docx/画像/音声/動画 → テキスト変換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.0" y="2871216"/>
            <a:ext cx="0.0" cy="201168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3072384"/>
            <a:ext cx="685800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99816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write-wiki.md  ―  .md 要約wiki生成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.0" y="3575304"/>
            <a:ext cx="0.0" cy="201168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3776472"/>
            <a:ext cx="685800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03904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place-wiki.md  ―  KnowledgeBase/ へ配置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6200.0" y="4279392"/>
            <a:ext cx="0.0" cy="201168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200" y="4480560"/>
            <a:ext cx="685800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07992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route-binary.md  ―  00personal/ へ移動・索引更新 ／ _inbox/ が空になる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3892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25587"/>
                </a:solidFill>
                <a:latin typeface="Meiryo"/>
              </a:rPr>
              <a:t>自動連鎖: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13248"/>
            <a:ext cx="1554480" cy="45720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73737"/>
                </a:solidFill>
                <a:latin typeface="Meiryo"/>
              </a:rPr>
              <a:t>frontmatter.md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5641848.0"/>
            <a:ext cx="45720" cy="0.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057400" y="5413248"/>
            <a:ext cx="1554480" cy="45720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73737"/>
                </a:solidFill>
                <a:latin typeface="Meiryo"/>
              </a:rPr>
              <a:t>overview-updater.md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11880" y="5641848.0"/>
            <a:ext cx="45720" cy="0.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657600" y="5413248"/>
            <a:ext cx="1554480" cy="45720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73737"/>
                </a:solidFill>
                <a:latin typeface="Meiryo"/>
              </a:rPr>
              <a:t>index-builder.md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12080" y="5641848.0"/>
            <a:ext cx="45720" cy="0.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257800" y="5413248"/>
            <a:ext cx="1554480" cy="45720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73737"/>
                </a:solidFill>
                <a:latin typeface="Meiryo"/>
              </a:rPr>
              <a:t>log-writer.md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560320"/>
            <a:ext cx="4114800" cy="1371600"/>
          </a:xfrm>
          <a:prstGeom prst="rect">
            <a:avLst/>
          </a:prstGeom>
          <a:solidFill>
            <a:srgbClr val="FAE1C3"/>
          </a:solidFill>
          <a:ln w="6350">
            <a:solidFill>
              <a:srgbClr val="C8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2651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5587"/>
                </a:solidFill>
                <a:latin typeface="Meiryo"/>
              </a:rPr>
              <a:t>修正発生時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0175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3737"/>
                </a:solidFill>
                <a:latin typeface="Meiryo"/>
              </a:rPr>
              <a:t>record-feedback.md が
feedback-log.md に記録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対応ファイル形式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4300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4008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25587"/>
                          </a:solidFill>
                          <a:latin typeface="Meiryo"/>
                        </a:rPr>
                        <a:t>形式</a:t>
                      </a:r>
                    </a:p>
                  </a:txBody>
                  <a:tcPr>
                    <a:solidFill>
                      <a:srgbClr val="B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25587"/>
                          </a:solidFill>
                          <a:latin typeface="Meiryo"/>
                        </a:rPr>
                        <a:t>処理方法</a:t>
                      </a:r>
                    </a:p>
                  </a:txBody>
                  <a:tcPr>
                    <a:solidFill>
                      <a:srgbClr val="B9D7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.md  .txt  .yaml  .json  .csv  .html  .svg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直接読み込み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.pdf（小）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Claude Code 直接読み込み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.pdf（大）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ページ分割読み込み（20ページ毎）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.pptx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python-pptx でテキスト抽出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openpyxl でセル抽出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.docx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python-docx で段落抽出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.png  .jpg  .jpeg  .gif  .webp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マルチモーダル読み込み（画像内容を説明）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.mp3  .wav  .m4a  .ogg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faster-whisper で文字起こし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.mp4  .mov  .avi  .mkv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ffmpeg音声抽出 → faster-whisper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.eml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Python標準emailモジュールで解析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.zip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73737"/>
                          </a:solidFill>
                          <a:latin typeface="Meiryo"/>
                        </a:rPr>
                        <a:t>展開後に各ファイルを再帰処理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7878"/>
                </a:solidFill>
                <a:latin typeface="Meiryo"/>
              </a:rPr>
              <a:t>前提ライブラリ: python-pptx / openpyxl / python-docx / faster-whisper / ffmpeg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自動学習サイクル（A+Cハイブリッド）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217920" cy="502920"/>
          </a:xfrm>
          <a:prstGeom prst="rect">
            <a:avLst/>
          </a:prstGeom>
          <a:solidFill>
            <a:srgbClr val="FAE1C3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ユーザーが分類修正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.0" y="1417320"/>
            <a:ext cx="0.0" cy="18288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12280" y="1399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eiryo"/>
              </a:rPr>
              <a:t>← record-feedback.md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621792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feedback-log.md に記録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.0" y="2103120"/>
            <a:ext cx="0.0" cy="18288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eiryo"/>
              </a:rPr>
              <a:t>← 同パターン3回以上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6217920" cy="502920"/>
          </a:xfrm>
          <a:prstGeom prst="rect">
            <a:avLst/>
          </a:prstGeom>
          <a:solidFill>
            <a:srgbClr val="D2E4F5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134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learn-from-feedback.md が検出（同パターン3回以上）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.0" y="2788920"/>
            <a:ext cx="0.0" cy="18288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12280" y="2770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eiryo"/>
              </a:rPr>
              <a:t>← ユーザー承認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6217920" cy="50292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92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ユーザー承認後 classification-hints.md に追記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.0" y="3474720"/>
            <a:ext cx="0.0" cy="18288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1228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7878"/>
                </a:solidFill>
                <a:latin typeface="Meiryo"/>
              </a:rPr>
              <a:t>← 1ヶ月安定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6217920" cy="502920"/>
          </a:xfrm>
          <a:prstGeom prst="rect">
            <a:avLst/>
          </a:prstGeom>
          <a:solidFill>
            <a:srgbClr val="C8EBD7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850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1ヶ月安定 → SCHEMA.md への昇格を提案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66160.0" y="4160520"/>
            <a:ext cx="0.0" cy="182880"/>
          </a:xfrm>
          <a:prstGeom prst="line">
            <a:avLst/>
          </a:prstGeom>
          <a:ln w="19050">
            <a:solidFill>
              <a:srgbClr val="1E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7200" y="4343400"/>
            <a:ext cx="6217920" cy="502920"/>
          </a:xfrm>
          <a:prstGeom prst="rect">
            <a:avLst/>
          </a:prstGeom>
          <a:solidFill>
            <a:srgbClr val="E1D2F0"/>
          </a:solidFill>
          <a:ln w="635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70832"/>
            <a:ext cx="6126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373737"/>
                </a:solidFill>
                <a:latin typeface="Meiryo"/>
              </a:rPr>
              <a:t>analyze.md が参照 → 精度向上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463040"/>
            <a:ext cx="4389120" cy="137160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Courier New"/>
              </a:rPr>
              <a:t>feedback-log.md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65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3737"/>
                </a:solidFill>
                <a:latin typeface="Meiryo"/>
              </a:rPr>
              <a:t>エージェント判断 vs ユーザー修正のペア記録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108960"/>
            <a:ext cx="4389120" cy="1371600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25587"/>
                </a:solidFill>
                <a:latin typeface="Courier New"/>
              </a:rPr>
              <a:t>classification-hints.md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611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3737"/>
                </a:solidFill>
                <a:latin typeface="Meiryo"/>
              </a:rPr>
              <a:t>分類補足ルール・迷いやすいケース集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運用ルール — 自動実行 vs ユーザー承認必須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4846320"/>
          </a:xfrm>
          <a:prstGeom prst="rect">
            <a:avLst/>
          </a:prstGeom>
          <a:solidFill>
            <a:srgbClr val="C8EBD7"/>
          </a:solidFill>
          <a:ln w="6350">
            <a:solidFill>
              <a:srgbClr val="8C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5587"/>
                </a:solidFill>
                <a:latin typeface="Meiryo"/>
              </a:rPr>
              <a:t>✅  自動実行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81912"/>
            <a:ext cx="525780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_inbox/ ファイルの分類・移動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.md 要約wikiの新規生成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Front-matter新規付与・メタ更新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_overview.md 自動生成・更新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index.yaml 再生成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新サブフォルダ作成（既存カテゴリ配下）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重複ファイル上書き（新しい方優先）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change_log への記録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05840"/>
            <a:ext cx="5394960" cy="4846320"/>
          </a:xfrm>
          <a:prstGeom prst="rect">
            <a:avLst/>
          </a:prstGeom>
          <a:solidFill>
            <a:srgbClr val="FAE1C3"/>
          </a:solidFill>
          <a:ln w="6350">
            <a:solidFill>
              <a:srgbClr val="C8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5587"/>
                </a:solidFill>
                <a:latin typeface="Meiryo"/>
              </a:rPr>
              <a:t>⚠️  ユーザー承認必須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581912"/>
            <a:ext cx="525780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16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既存wiki記事の内容書き換え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945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新トップカテゴリの追加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既存カテゴリの廃止・統合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ファイルの削除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033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分類不明ファイルの処理（同期質問）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eiryo"/>
              </a:rPr>
              <a:t>・ classification-hints.md への追記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89320"/>
            <a:ext cx="11612880" cy="18288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87878"/>
                </a:solidFill>
                <a:latin typeface="Meiryo"/>
              </a:rPr>
              <a:t>OneDriveロック対応: 失敗時は3回リトライ → それでも失敗は手動対応リストへ記録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今後の実装タスク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203704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フェーズ1: スキル・エージェント作成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9284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スキル14本の作成（wiki-agent/skills/）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inbox-agent.md の作成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maintenance-agent.md の作成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11430000" cy="1069848"/>
          </a:xfrm>
          <a:prstGeom prst="rect">
            <a:avLst/>
          </a:prstGeom>
          <a:solidFill>
            <a:srgbClr val="C8EBD7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フェーズ2: 定期実行設定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9284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CronCreate で maintenance-agent を週次自動起動設定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97680"/>
            <a:ext cx="11430000" cy="1636776"/>
          </a:xfrm>
          <a:prstGeom prst="rect">
            <a:avLst/>
          </a:prstGeom>
          <a:solidFill>
            <a:srgbClr val="FAE1C3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フェーズ3: 追加エージェント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11292840" cy="1828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既存資料の後追いwiki化エージェント（write-wiki.md を再利用）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  <a:latin typeface="Meiryo"/>
              </a:rPr>
              <a:t>□  personal-agent の設計・作成（00personal/ 整理専任）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25587"/>
                </a:solidFill>
                <a:latin typeface="Meiryo"/>
              </a:rPr>
              <a:t>補足 — ファイル命名規則 &amp; SCHEMA.md 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27432"/>
          </a:xfrm>
          <a:prstGeom prst="rect">
            <a:avLst/>
          </a:prstGeom>
          <a:solidFill>
            <a:srgbClr val="B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D2E4F5"/>
          </a:solidFill>
          <a:ln w="63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ファイル命名規則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2578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ourier New"/>
              </a:rPr>
              <a:t>wiki記事:    YYYY-MM-DD_タイトル.md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会議録:      YYYY-MM-DD_会議名_minutes.md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個人メモ:    YYYY-MM-DD_メモ名_personal.md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バイナリ原本: そのままの名前で00personal/へ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フォルダ階層: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KnowledgeBase/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  &lt;カテゴリ&gt;/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    &lt;サブカテゴリ&gt;/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      YYYY-MM-DD_title.md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394960" cy="5303520"/>
          </a:xfrm>
          <a:prstGeom prst="rect">
            <a:avLst/>
          </a:prstGeom>
          <a:solidFill>
            <a:srgbClr val="C8EBD7"/>
          </a:solidFill>
          <a:ln w="6350">
            <a:solidFill>
              <a:srgbClr val="8C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5587"/>
                </a:solidFill>
                <a:latin typeface="Meiryo"/>
              </a:rPr>
              <a:t>SCHEMA.md 主要項目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08760"/>
            <a:ext cx="52578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ourier New"/>
              </a:rPr>
              <a:t># フロントマター必須フィールド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title, date, category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tags (list), status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source (optional)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# status 定義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draft    → 未レビュー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active   → 有効・参照可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archived → 古い・参考のみ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# カテゴリ一覧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kyorindo / tsuruha-hd</a:t>
            </a:r>
          </a:p>
          <a:p>
            <a:r>
              <a:rPr sz="950">
                <a:solidFill>
                  <a:srgbClr val="373737"/>
                </a:solidFill>
                <a:latin typeface="Courier New"/>
              </a:rPr>
              <a:t>  retail / ai-dx / vendor /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Meiry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